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  <p:sldId id="270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开场：一站式 AI 测试工具——架构分析、用例生成、智能调度、真实执行、报告诊断。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背景痛点：业务卡点（测试跟不上迭代）、低效现状（设计与维护成本高）、工具瓶颈（两类能力割裂）。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实践目标：三大核心问题 + 四项预期效果（分钟级、四维覆盖、零脚本、可量化）。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汇报框架：创意方案、落地流程、成果数据、经验总结四大模块。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五大功能阶段构成完整测试闭环，八项底层能力支撑。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架构分析：输入源码目录，输出结构、业务、质量三组共 12+ 维度，支撑后续用例生成。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用例生成：先分析需求与页面，再产出 20-40 条六字段标准用例，含需求符合性检查。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覆盖率：元素、场景、需求、数据四个维度在生成阶段被强制覆盖。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分组执行：规则分组兜底 + AI 分组优化，只读用例合并执行、改数据的单独执行。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自主执行：30+ 工具分类调用，CDP 真实输入，支持中止/继续/插话与自愈。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展示一：连接目标页面、配置模型、填写需求、上传源码并分析架构。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展示二：AI 思考过程、真实操作、用量显示与卡住自动处理。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展示三：通过率、逐条结果、AI 总结与可导出的诊断报告。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收尾：一站式功能闭环 + 覆盖可量化 + 真实可信，致谢。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669280" cy="5669280"/>
          </a:xfrm>
          <a:prstGeom prst="ellipse">
            <a:avLst/>
          </a:prstGeom>
          <a:solidFill>
            <a:srgbClr val="4F46E5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194560" y="4937760"/>
            <a:ext cx="4754880" cy="4754880"/>
          </a:xfrm>
          <a:prstGeom prst="ellipse">
            <a:avLst/>
          </a:prstGeom>
          <a:solidFill>
            <a:srgbClr val="0E9F6E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338560" y="6035040"/>
            <a:ext cx="2377440" cy="2377440"/>
          </a:xfrm>
          <a:prstGeom prst="ellipse">
            <a:avLst/>
          </a:prstGeom>
          <a:solidFill>
            <a:srgbClr val="C7D2FE">
              <a:alpha val="8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66928" y="548640"/>
            <a:ext cx="2798064" cy="402336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48640"/>
            <a:ext cx="27980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智能创作</a:t>
            </a:r>
            <a:r>
              <a:rPr lang="zh-CN" altLang="en-US" sz="115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劳动</a:t>
            </a:r>
            <a:r>
              <a:rPr lang="en-US" sz="115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竞赛 · 参赛作品</a:t>
            </a:r>
            <a:endParaRPr lang="en-US" sz="1150" dirty="0"/>
          </a:p>
        </p:txBody>
      </p:sp>
      <p:pic>
        <p:nvPicPr>
          <p:cNvPr id="7" name="Image 0" descr="/Users/apple/Desktop/code/web-ai-autotest/autotest/devtools/icon-1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98448"/>
            <a:ext cx="841248" cy="841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231136"/>
            <a:ext cx="68580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浏览器扩展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4041648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上传源码与需求，AI 自动分析项目、生成用例，并像真人一样操作浏览器完成测试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4791456"/>
            <a:ext cx="804672" cy="384048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91456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架构分析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508760" y="4791456"/>
            <a:ext cx="804672" cy="384048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08760" y="4791456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50592" y="4791456"/>
            <a:ext cx="804672" cy="384048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50592" y="4791456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用例生成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92424" y="4791456"/>
            <a:ext cx="804672" cy="384048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92424" y="4791456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分组执行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34256" y="4791456"/>
            <a:ext cx="804672" cy="384048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34256" y="4791456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真实操作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76088" y="4791456"/>
            <a:ext cx="804672" cy="384048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76088" y="4791456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报告诊断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5989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</a:t>
            </a:r>
            <a:r>
              <a:rPr lang="zh-CN" altLang="en-US" sz="1150" dirty="0">
                <a:solidFill>
                  <a:srgbClr val="8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宋功伟</a:t>
            </a:r>
            <a:r>
              <a:rPr lang="en-US" sz="1150" dirty="0">
                <a:solidFill>
                  <a:srgbClr val="8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882128" y="1627632"/>
            <a:ext cx="3739896" cy="3749040"/>
          </a:xfrm>
          <a:prstGeom prst="rect">
            <a:avLst/>
          </a:prstGeom>
          <a:solidFill>
            <a:srgbClr val="0C1226"/>
          </a:solidFill>
          <a:ln w="12700">
            <a:solidFill>
              <a:srgbClr val="35406B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83296" y="1810512"/>
            <a:ext cx="118872" cy="118872"/>
          </a:xfrm>
          <a:prstGeom prst="ellipse">
            <a:avLst/>
          </a:prstGeom>
          <a:solidFill>
            <a:srgbClr val="F87171"/>
          </a:solidFill>
        </p:spPr>
      </p:sp>
      <p:sp>
        <p:nvSpPr>
          <p:cNvPr id="25" name="Shape 22"/>
          <p:cNvSpPr/>
          <p:nvPr/>
        </p:nvSpPr>
        <p:spPr>
          <a:xfrm>
            <a:off x="8321040" y="1810512"/>
            <a:ext cx="118872" cy="118872"/>
          </a:xfrm>
          <a:prstGeom prst="ellipse">
            <a:avLst/>
          </a:prstGeom>
          <a:solidFill>
            <a:srgbClr val="FBBF24"/>
          </a:solidFill>
        </p:spPr>
      </p:sp>
      <p:sp>
        <p:nvSpPr>
          <p:cNvPr id="26" name="Shape 23"/>
          <p:cNvSpPr/>
          <p:nvPr/>
        </p:nvSpPr>
        <p:spPr>
          <a:xfrm>
            <a:off x="8558784" y="1810512"/>
            <a:ext cx="118872" cy="118872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27" name="Text 24"/>
          <p:cNvSpPr/>
          <p:nvPr/>
        </p:nvSpPr>
        <p:spPr>
          <a:xfrm>
            <a:off x="8887968" y="1719072"/>
            <a:ext cx="25511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执行记录（节选）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110728" y="2139696"/>
            <a:ext cx="3282696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 第 12 轮 ──────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看到：商品列表共 15 条记录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决定：点击右上角「新增商品」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执行点击「新增商品」按钮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点击成功，进入商品编辑表单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B6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 第 13 轮 ──────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看到：新增商品表单已加载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填写表单：名称、价格、库存 …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531620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5316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背景痛点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业务测试的卡点、低效与瓶颈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00784"/>
            <a:ext cx="352745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00784"/>
            <a:ext cx="3527450" cy="64008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0" name="Shape 8"/>
          <p:cNvSpPr/>
          <p:nvPr/>
        </p:nvSpPr>
        <p:spPr>
          <a:xfrm>
            <a:off x="786384" y="1920240"/>
            <a:ext cx="402336" cy="402336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11" name="Text 9"/>
          <p:cNvSpPr/>
          <p:nvPr/>
        </p:nvSpPr>
        <p:spPr>
          <a:xfrm>
            <a:off x="786384" y="19110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2450592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业务卡点：测试跟不上</a:t>
            </a:r>
            <a:r>
              <a:rPr lang="zh-CN" alt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</a:t>
            </a: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5160" y="2798445"/>
            <a:ext cx="3313430" cy="1592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39700" indent="-139700" algn="l">
              <a:lnSpc>
                <a:spcPct val="150000"/>
              </a:lnSpc>
              <a:buClrTx/>
              <a:buSzTx/>
              <a:buFontTx/>
              <a:buChar char="•"/>
            </a:pP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使用大模型可以减少需求开发的时间，但开发质量难以保证100%准确</a:t>
            </a:r>
            <a:endParaRPr lang="zh-CN" alt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需求太多难以保证彻底理解，经常忽略掉一些需求细节</a:t>
            </a:r>
            <a:endParaRPr lang="zh-CN" alt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139700" indent="-139700">
              <a:lnSpc>
                <a:spcPct val="150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在</a:t>
            </a:r>
            <a:r>
              <a:rPr lang="en-US" altLang="zh-CN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AI</a:t>
            </a: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开发环境下，测试的重要性显著上升</a:t>
            </a:r>
            <a:endParaRPr lang="zh-CN" alt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pPr marL="139700" indent="-139700">
              <a:lnSpc>
                <a:spcPct val="150000"/>
              </a:lnSpc>
              <a:buSzPct val="100000"/>
              <a:buChar char="•"/>
            </a:pPr>
            <a:endParaRPr lang="zh-CN" alt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32122" y="1700784"/>
            <a:ext cx="352745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2122" y="1700784"/>
            <a:ext cx="3527450" cy="6400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Shape 14"/>
          <p:cNvSpPr/>
          <p:nvPr/>
        </p:nvSpPr>
        <p:spPr>
          <a:xfrm>
            <a:off x="4551578" y="1920240"/>
            <a:ext cx="402336" cy="402336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17" name="Text 15"/>
          <p:cNvSpPr/>
          <p:nvPr/>
        </p:nvSpPr>
        <p:spPr>
          <a:xfrm>
            <a:off x="4551578" y="19110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1578" y="2394077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低效现状：设计与维护成本高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28490" y="2737485"/>
            <a:ext cx="3420110" cy="1743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50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人力设计用例速度太慢，需要逐条对照需求文档来设计用例</a:t>
            </a:r>
            <a:endParaRPr lang="zh-CN" alt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39700" indent="-139700">
              <a:lnSpc>
                <a:spcPct val="150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人工设计用例考虑不全面，</a:t>
            </a:r>
            <a:r>
              <a:rPr lang="en-US" altLang="zh-CN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</a:t>
            </a:r>
            <a:r>
              <a:rPr lang="zh-CN" alt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交互细节难覆盖率差</a:t>
            </a:r>
            <a:endParaRPr lang="zh-CN" alt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97317" y="1700784"/>
            <a:ext cx="352745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7317" y="1700784"/>
            <a:ext cx="3527450" cy="6400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2" name="Shape 20"/>
          <p:cNvSpPr/>
          <p:nvPr/>
        </p:nvSpPr>
        <p:spPr>
          <a:xfrm>
            <a:off x="8316773" y="1920240"/>
            <a:ext cx="402336" cy="402336"/>
          </a:xfrm>
          <a:prstGeom prst="ellipse">
            <a:avLst/>
          </a:prstGeom>
          <a:solidFill>
            <a:srgbClr val="E0F4FA"/>
          </a:solidFill>
        </p:spPr>
      </p:sp>
      <p:sp>
        <p:nvSpPr>
          <p:cNvPr id="23" name="Text 21"/>
          <p:cNvSpPr/>
          <p:nvPr/>
        </p:nvSpPr>
        <p:spPr>
          <a:xfrm>
            <a:off x="8316773" y="19110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6773" y="2450592"/>
            <a:ext cx="308853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工具瓶颈：两类能力彼此割裂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181975" y="2807335"/>
            <a:ext cx="331343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编程助手懂源码，但不能操作浏览器验证</a:t>
            </a:r>
            <a:endParaRPr lang="en-US" sz="1200" dirty="0"/>
          </a:p>
          <a:p>
            <a:pPr marL="139700" indent="-1397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自动化工具能点页面，但不懂业务只能盲猜</a:t>
            </a:r>
            <a:endParaRPr lang="en-US" sz="1200" dirty="0"/>
          </a:p>
          <a:p>
            <a:pPr marL="139700" indent="-1397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测试报告与失败原因仍要人工整理排查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5029200"/>
            <a:ext cx="11057839" cy="841248"/>
          </a:xfrm>
          <a:prstGeom prst="rect">
            <a:avLst/>
          </a:prstGeom>
          <a:solidFill>
            <a:srgbClr val="4F46E5"/>
          </a:solidFill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" y="5029200"/>
            <a:ext cx="10326319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破题思路　</a:t>
            </a:r>
            <a:r>
              <a:rPr lang="en-US" sz="1300" dirty="0">
                <a:solidFill>
                  <a:srgbClr val="E0E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需要一个既懂源码、又能像真人一样操作浏览器的 AI 测试方案，把「读」和「测」接起来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531620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5316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实践目标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本次落地要解决的核心问题与预期效果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68249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要解决的核心问题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121408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322576"/>
            <a:ext cx="384048" cy="384048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11" name="Text 9"/>
          <p:cNvSpPr/>
          <p:nvPr/>
        </p:nvSpPr>
        <p:spPr>
          <a:xfrm>
            <a:off x="768096" y="2313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267712"/>
            <a:ext cx="4526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读懂真实项目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98448" y="2633472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打通源码、页面结构与业务意图，AI 不再只看页面盲猜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" y="3474720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675888"/>
            <a:ext cx="384048" cy="384048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16" name="Text 14"/>
          <p:cNvSpPr/>
          <p:nvPr/>
        </p:nvSpPr>
        <p:spPr>
          <a:xfrm>
            <a:off x="768096" y="3666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3621024"/>
            <a:ext cx="4526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让用例自动生成且测得全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98448" y="3986784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需求逐条核对、控件逐项覆盖，告别人工逐条编写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4828032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5029200"/>
            <a:ext cx="384048" cy="384048"/>
          </a:xfrm>
          <a:prstGeom prst="ellipse">
            <a:avLst/>
          </a:prstGeom>
          <a:solidFill>
            <a:srgbClr val="4F46E5"/>
          </a:solidFill>
        </p:spPr>
      </p:sp>
      <p:sp>
        <p:nvSpPr>
          <p:cNvPr id="21" name="Text 19"/>
          <p:cNvSpPr/>
          <p:nvPr/>
        </p:nvSpPr>
        <p:spPr>
          <a:xfrm>
            <a:off x="768096" y="50200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4974336"/>
            <a:ext cx="4526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让测试真实执行且结果可信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98448" y="5340096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操作等同真人，每条</a:t>
            </a:r>
            <a:r>
              <a:rPr lang="zh-CN" alt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</a:t>
            </a: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结论有依据，失败原因可追查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1682496"/>
            <a:ext cx="5223967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整体预期效果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121408"/>
            <a:ext cx="5223967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121408"/>
            <a:ext cx="64008" cy="896112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7" name="Text 25"/>
          <p:cNvSpPr/>
          <p:nvPr/>
        </p:nvSpPr>
        <p:spPr>
          <a:xfrm>
            <a:off x="6583680" y="2121408"/>
            <a:ext cx="1170432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分钟级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772400" y="2121408"/>
            <a:ext cx="3623767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用例设计提效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人工数小时 → AI 一次生成 20-40 条标准用例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163824"/>
            <a:ext cx="5223967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163824"/>
            <a:ext cx="64008" cy="896112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1" name="Text 29"/>
          <p:cNvSpPr/>
          <p:nvPr/>
        </p:nvSpPr>
        <p:spPr>
          <a:xfrm>
            <a:off x="6583680" y="3163824"/>
            <a:ext cx="1170432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四维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772400" y="3163824"/>
            <a:ext cx="3623767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覆盖设计保障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控件 / 场景 / 需求 / 数据四个维度强制覆盖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4206240"/>
            <a:ext cx="5223967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4206240"/>
            <a:ext cx="64008" cy="896112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35" name="Text 33"/>
          <p:cNvSpPr/>
          <p:nvPr/>
        </p:nvSpPr>
        <p:spPr>
          <a:xfrm>
            <a:off x="6583680" y="4206240"/>
            <a:ext cx="1170432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零脚本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772400" y="4206240"/>
            <a:ext cx="3623767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全程免写代码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配置需求后即可运行，操作</a:t>
            </a:r>
            <a:r>
              <a:rPr lang="zh-CN" alt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</a:t>
            </a: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等同真人执行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0" y="5248656"/>
            <a:ext cx="5223967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5248656"/>
            <a:ext cx="64008" cy="89611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9" name="Text 37"/>
          <p:cNvSpPr/>
          <p:nvPr/>
        </p:nvSpPr>
        <p:spPr>
          <a:xfrm>
            <a:off x="6583680" y="5248656"/>
            <a:ext cx="1170432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可量化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772400" y="5248656"/>
            <a:ext cx="3623767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结果自动产出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通过率、逐条结果、AI 总结与报告自动生成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531620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5316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汇报框架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本次分享分为四大模块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25861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10512"/>
            <a:ext cx="2586152" cy="54864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0" name="Text 8"/>
          <p:cNvSpPr/>
          <p:nvPr/>
        </p:nvSpPr>
        <p:spPr>
          <a:xfrm>
            <a:off x="566928" y="1810512"/>
            <a:ext cx="2586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</a:t>
            </a: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创意方案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2523744"/>
            <a:ext cx="258615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产品定位与功能设计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182112"/>
            <a:ext cx="2037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46704"/>
            <a:ext cx="2037512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功能全景：五大阶段闭环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架构分析 + 用例生成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四维覆盖率设计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90824" y="1810512"/>
            <a:ext cx="25861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90824" y="1810512"/>
            <a:ext cx="2586152" cy="5486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6" name="Text 14"/>
          <p:cNvSpPr/>
          <p:nvPr/>
        </p:nvSpPr>
        <p:spPr>
          <a:xfrm>
            <a:off x="3390824" y="1810512"/>
            <a:ext cx="2586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</a:t>
            </a: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落地流程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90824" y="2523744"/>
            <a:ext cx="258615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从配置到执行的链路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65144" y="3182112"/>
            <a:ext cx="2037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5144" y="3346704"/>
            <a:ext cx="2037512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用例分组与执行优化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自主执行与人工干预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真实运行过程实拍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4720" y="1810512"/>
            <a:ext cx="25861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4720" y="1810512"/>
            <a:ext cx="2586152" cy="548640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22" name="Text 20"/>
          <p:cNvSpPr/>
          <p:nvPr/>
        </p:nvSpPr>
        <p:spPr>
          <a:xfrm>
            <a:off x="6214720" y="1810512"/>
            <a:ext cx="2586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</a:t>
            </a: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成果数据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4720" y="2523744"/>
            <a:ext cx="258615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真实场景实测结果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89040" y="3182112"/>
            <a:ext cx="2037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3346704"/>
            <a:ext cx="2037512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增删改查实测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通过率与失败定位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报告与诊断能力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38615" y="1810512"/>
            <a:ext cx="25861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38615" y="1810512"/>
            <a:ext cx="2586152" cy="54864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8" name="Text 26"/>
          <p:cNvSpPr/>
          <p:nvPr/>
        </p:nvSpPr>
        <p:spPr>
          <a:xfrm>
            <a:off x="9038615" y="1810512"/>
            <a:ext cx="2586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</a:t>
            </a: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经验总结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38615" y="2523744"/>
            <a:ext cx="258615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实践心得与规划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12935" y="3182112"/>
            <a:ext cx="2037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12935" y="3346704"/>
            <a:ext cx="2037512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三条实践经验</a:t>
            </a:r>
            <a:endParaRPr lang="en-US" sz="1600" dirty="0"/>
          </a:p>
          <a:p>
            <a:pPr marL="127000" indent="-127000">
              <a:lnSpc>
                <a:spcPct val="165000"/>
              </a:lnSpc>
              <a:buSzPct val="100000"/>
              <a:buChar char="•"/>
            </a:pP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未来迭代方向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· 创意方案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创意方案总览：五大功能阶段构成测试闭环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9751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55648"/>
            <a:ext cx="1975104" cy="64008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0" name="Shape 8"/>
          <p:cNvSpPr/>
          <p:nvPr/>
        </p:nvSpPr>
        <p:spPr>
          <a:xfrm>
            <a:off x="1316736" y="1975104"/>
            <a:ext cx="475488" cy="475488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11" name="Text 9"/>
          <p:cNvSpPr/>
          <p:nvPr/>
        </p:nvSpPr>
        <p:spPr>
          <a:xfrm>
            <a:off x="1316736" y="1965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" y="2560320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架构分析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2962656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上传项目源码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12+ 项分析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结果可缓存复用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78608" y="2944368"/>
            <a:ext cx="222428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37612" y="1755648"/>
            <a:ext cx="19751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7612" y="1755648"/>
            <a:ext cx="1975104" cy="64008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7" name="Shape 15"/>
          <p:cNvSpPr/>
          <p:nvPr/>
        </p:nvSpPr>
        <p:spPr>
          <a:xfrm>
            <a:off x="3587420" y="1975104"/>
            <a:ext cx="475488" cy="475488"/>
          </a:xfrm>
          <a:prstGeom prst="ellipse">
            <a:avLst/>
          </a:prstGeom>
          <a:solidFill>
            <a:srgbClr val="E0F4FA"/>
          </a:solidFill>
        </p:spPr>
      </p:sp>
      <p:sp>
        <p:nvSpPr>
          <p:cNvPr id="18" name="Text 16"/>
          <p:cNvSpPr/>
          <p:nvPr/>
        </p:nvSpPr>
        <p:spPr>
          <a:xfrm>
            <a:off x="3587420" y="1965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837612" y="2560320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用例生成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837612" y="2962656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逐条分析需求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 20-40 条用例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9292" y="2944368"/>
            <a:ext cx="222428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08296" y="1755648"/>
            <a:ext cx="19751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08296" y="1755648"/>
            <a:ext cx="1975104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Shape 22"/>
          <p:cNvSpPr/>
          <p:nvPr/>
        </p:nvSpPr>
        <p:spPr>
          <a:xfrm>
            <a:off x="5858104" y="1975104"/>
            <a:ext cx="475488" cy="475488"/>
          </a:xfrm>
          <a:prstGeom prst="ellipse">
            <a:avLst/>
          </a:prstGeom>
          <a:solidFill>
            <a:srgbClr val="F1EBFE"/>
          </a:solidFill>
        </p:spPr>
      </p:sp>
      <p:sp>
        <p:nvSpPr>
          <p:cNvPr id="25" name="Text 23"/>
          <p:cNvSpPr/>
          <p:nvPr/>
        </p:nvSpPr>
        <p:spPr>
          <a:xfrm>
            <a:off x="5858104" y="1965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108296" y="2560320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分组执行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08296" y="2962656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分析用例间关联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只读用例合并执行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改数据的单独执行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19976" y="2944368"/>
            <a:ext cx="222428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78979" y="1755648"/>
            <a:ext cx="19751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78979" y="1755648"/>
            <a:ext cx="1975104" cy="64008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31" name="Shape 29"/>
          <p:cNvSpPr/>
          <p:nvPr/>
        </p:nvSpPr>
        <p:spPr>
          <a:xfrm>
            <a:off x="8128787" y="1975104"/>
            <a:ext cx="475488" cy="475488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32" name="Text 30"/>
          <p:cNvSpPr/>
          <p:nvPr/>
        </p:nvSpPr>
        <p:spPr>
          <a:xfrm>
            <a:off x="8128787" y="1965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78979" y="2560320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自主执行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378979" y="2962656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工具调用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操作等同真人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可随时中止插话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390659" y="2944368"/>
            <a:ext cx="222428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49663" y="1755648"/>
            <a:ext cx="19751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649663" y="1755648"/>
            <a:ext cx="1975104" cy="6400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8" name="Shape 36"/>
          <p:cNvSpPr/>
          <p:nvPr/>
        </p:nvSpPr>
        <p:spPr>
          <a:xfrm>
            <a:off x="10399471" y="1975104"/>
            <a:ext cx="475488" cy="475488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39" name="Text 37"/>
          <p:cNvSpPr/>
          <p:nvPr/>
        </p:nvSpPr>
        <p:spPr>
          <a:xfrm>
            <a:off x="10399471" y="19659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649663" y="2560320"/>
            <a:ext cx="19751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报告诊断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649663" y="2962656"/>
            <a:ext cx="197510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通过率统计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自动总结</a:t>
            </a:r>
            <a:endParaRPr lang="en-US" sz="12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报告导出留档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" y="45720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底层支撑能力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4974336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974336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源码本地上传检索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77108" y="4974336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7108" y="4974336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页面结构实时读取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87288" y="4974336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7288" y="4974336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截图视觉理解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997467" y="4974336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97467" y="4974336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网络请求自动记录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6928" y="5650992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650992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控件用法自动识别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377108" y="5650992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77108" y="5650992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防止 AI 编造操作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87288" y="5650992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7288" y="5650992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卡住自动停止重试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997467" y="5650992"/>
            <a:ext cx="2627300" cy="512064"/>
          </a:xfrm>
          <a:prstGeom prst="rect">
            <a:avLst/>
          </a:prstGeom>
          <a:solidFill>
            <a:srgbClr val="EDF0F9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97467" y="5650992"/>
            <a:ext cx="26273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敏感信息安全存储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· 创意方案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创意方案 ①：项目架构分析 —— 上传源码，一键读懂项目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82496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" y="1828800"/>
            <a:ext cx="3172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" y="2139696"/>
            <a:ext cx="3172968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上传项目源码目录（通常为 src），在本地建立索引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2436876"/>
            <a:ext cx="424282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12" name="Text 10"/>
          <p:cNvSpPr/>
          <p:nvPr/>
        </p:nvSpPr>
        <p:spPr>
          <a:xfrm>
            <a:off x="786384" y="2436876"/>
            <a:ext cx="42428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02106" y="2436876"/>
            <a:ext cx="504749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14" name="Text 12"/>
          <p:cNvSpPr/>
          <p:nvPr/>
        </p:nvSpPr>
        <p:spPr>
          <a:xfrm>
            <a:off x="1302106" y="2436876"/>
            <a:ext cx="50474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98294" y="2436876"/>
            <a:ext cx="424282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16" name="Text 14"/>
          <p:cNvSpPr/>
          <p:nvPr/>
        </p:nvSpPr>
        <p:spPr>
          <a:xfrm>
            <a:off x="1898294" y="2436876"/>
            <a:ext cx="42428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14016" y="2436876"/>
            <a:ext cx="504749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18" name="Text 16"/>
          <p:cNvSpPr/>
          <p:nvPr/>
        </p:nvSpPr>
        <p:spPr>
          <a:xfrm>
            <a:off x="2414016" y="2436876"/>
            <a:ext cx="50474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0205" y="2436876"/>
            <a:ext cx="504749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20" name="Text 18"/>
          <p:cNvSpPr/>
          <p:nvPr/>
        </p:nvSpPr>
        <p:spPr>
          <a:xfrm>
            <a:off x="3010205" y="2436876"/>
            <a:ext cx="50474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.tsx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06394" y="2436876"/>
            <a:ext cx="504749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22" name="Text 20"/>
          <p:cNvSpPr/>
          <p:nvPr/>
        </p:nvSpPr>
        <p:spPr>
          <a:xfrm>
            <a:off x="3606394" y="2436876"/>
            <a:ext cx="504749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3267" y="2756281"/>
            <a:ext cx="585216" cy="292608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24" name="Text 22"/>
          <p:cNvSpPr/>
          <p:nvPr/>
        </p:nvSpPr>
        <p:spPr>
          <a:xfrm>
            <a:off x="774852" y="2756916"/>
            <a:ext cx="5852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6384" y="3047238"/>
            <a:ext cx="317296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分析方式：</a:t>
            </a: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先按常见框架写法本地快速扫描，再由 AI 深入分析、验证和补全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结果管理：</a:t>
            </a: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可缓存、导入、导出；重新上传源码会自动作废旧结果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169664"/>
            <a:ext cx="3611880" cy="1810512"/>
          </a:xfrm>
          <a:prstGeom prst="rect">
            <a:avLst/>
          </a:prstGeom>
          <a:solidFill>
            <a:srgbClr val="4F46E5"/>
          </a:solidFill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135" y="4169410"/>
            <a:ext cx="3411855" cy="181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分析结果是后续步骤的依据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生成用例时：知道有哪些页面、接口和业务模块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执行测试时：为 AI 提供当前页面的相关源码</a:t>
            </a:r>
            <a:endParaRPr lang="en-US" sz="1400" dirty="0">
              <a:solidFill>
                <a:srgbClr val="E0E7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43984" y="1682496"/>
            <a:ext cx="7180783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43984" y="1682496"/>
            <a:ext cx="64008" cy="1335024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30" name="Shape 28"/>
          <p:cNvSpPr/>
          <p:nvPr/>
        </p:nvSpPr>
        <p:spPr>
          <a:xfrm>
            <a:off x="4645152" y="1847088"/>
            <a:ext cx="329184" cy="329184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31" name="Text 29"/>
          <p:cNvSpPr/>
          <p:nvPr/>
        </p:nvSpPr>
        <p:spPr>
          <a:xfrm>
            <a:off x="4645152" y="183794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84064" y="1847088"/>
            <a:ext cx="626638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结构理解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84064" y="2249424"/>
            <a:ext cx="6266383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带注释的目录结构 ｜ 项目架构图 ｜ 启动流程 ｜ 技术栈与项目规模 ｜ 架构设计特点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43984" y="3182112"/>
            <a:ext cx="7180783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43984" y="3182112"/>
            <a:ext cx="64008" cy="133502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6" name="Shape 34"/>
          <p:cNvSpPr/>
          <p:nvPr/>
        </p:nvSpPr>
        <p:spPr>
          <a:xfrm>
            <a:off x="4645152" y="3346704"/>
            <a:ext cx="329184" cy="329184"/>
          </a:xfrm>
          <a:prstGeom prst="ellipse">
            <a:avLst/>
          </a:prstGeom>
          <a:solidFill>
            <a:srgbClr val="E0F4FA"/>
          </a:solidFill>
        </p:spPr>
      </p:sp>
      <p:sp>
        <p:nvSpPr>
          <p:cNvPr id="37" name="Text 35"/>
          <p:cNvSpPr/>
          <p:nvPr/>
        </p:nvSpPr>
        <p:spPr>
          <a:xfrm>
            <a:off x="4645152" y="3337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84064" y="3346704"/>
            <a:ext cx="626638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业务地图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084064" y="3749040"/>
            <a:ext cx="6266383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页面路由清单 ｜ 导航菜单结构 ｜ 业务模块分类 ｜ 每个页面调用的接口 ｜ 状态管理模块 ｜ 组件体系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443984" y="4681728"/>
            <a:ext cx="7180783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43984" y="4681728"/>
            <a:ext cx="64008" cy="1335024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42" name="Shape 40"/>
          <p:cNvSpPr/>
          <p:nvPr/>
        </p:nvSpPr>
        <p:spPr>
          <a:xfrm>
            <a:off x="4645152" y="4846320"/>
            <a:ext cx="329184" cy="329184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43" name="Text 41"/>
          <p:cNvSpPr/>
          <p:nvPr/>
        </p:nvSpPr>
        <p:spPr>
          <a:xfrm>
            <a:off x="4645152" y="48371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84064" y="4846320"/>
            <a:ext cx="626638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质量体检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084064" y="5248656"/>
            <a:ext cx="6266383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潜在问题（架构 / 性能 / 安全 / 工程化）及修复建议 ｜ 安全机制识别 ｜ 项目优势与待改进点</a:t>
            </a:r>
            <a:endParaRPr lang="en-US" sz="14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· 创意方案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创意方案 ②：需求分析 → 自动生成测试用例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82496"/>
            <a:ext cx="523036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682496"/>
            <a:ext cx="5230368" cy="512064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786384" y="1682496"/>
            <a:ext cx="47914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 · 需求与页面分析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605" y="2267585"/>
            <a:ext cx="5099685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逐层梳理：有哪些页面、每个页面有哪些功能、数据来自哪个接口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逐个清点页面控件：下拉框、搜索框、按钮、Tab、弹窗……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识别筛选项联动（如选省份再选城市）</a:t>
            </a:r>
            <a:endParaRPr lang="en-US" sz="1400" dirty="0">
              <a:solidFill>
                <a:srgbClr val="1E24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逐条对照需求：页面上缺了哪些功能、多做了哪些功能，</a:t>
            </a:r>
            <a:endParaRPr lang="en-US" sz="1400" dirty="0">
              <a:solidFill>
                <a:srgbClr val="1E24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09310" y="2916936"/>
            <a:ext cx="4846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91656" y="1682496"/>
            <a:ext cx="523036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1656" y="1682496"/>
            <a:ext cx="5230368" cy="512064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15" name="Text 13"/>
          <p:cNvSpPr/>
          <p:nvPr/>
        </p:nvSpPr>
        <p:spPr>
          <a:xfrm>
            <a:off x="6611112" y="1682496"/>
            <a:ext cx="47914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第二步 · 生成标准测试用例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295144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一次生成 20-40 条用例，数据检查和界面操作统一编号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字段标准结构：编号 / 标题 / 页面 / 前置条件 / 步骤 / 预期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步骤用自然语言书写，执行时由 AI 自动选择合适的操作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页面数据与接口字段必须一一对应，禁止 AI 凭猜测对应</a:t>
            </a:r>
            <a:endParaRPr lang="en-US" sz="1400" dirty="0">
              <a:solidFill>
                <a:srgbClr val="1E24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" y="44074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生成的用例长这样（可导出、可手动补充）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754880"/>
            <a:ext cx="11057839" cy="1170432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4754880"/>
            <a:ext cx="10509199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TC-002 ｜ 新增商品：填写完整信息并保存成功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前置：已进入商品管理页　→　步骤：点击「新增商品」→ 填写名称/价格/库存/分类 → 点击「保存」→ 查看商品接口返回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预期：列表多出一条记录；接口返回成功；页面「价格」列与接口字段 price 显示一致</a:t>
            </a:r>
            <a:endParaRPr lang="en-US" sz="1400" dirty="0">
              <a:solidFill>
                <a:srgbClr val="0E9F6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 · 创意方案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创意方案 ③：用例覆盖率设计 —— 四个维度确保测全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25998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773936"/>
            <a:ext cx="259986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95%+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66928" y="2414016"/>
            <a:ext cx="25998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控件覆盖目标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25998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类控件逐项生成用例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6252" y="1664208"/>
            <a:ext cx="25998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6252" y="1773936"/>
            <a:ext cx="259986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86252" y="2414016"/>
            <a:ext cx="25998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需求条目覆盖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6252" y="2688336"/>
            <a:ext cx="25998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逐条核对，缺功能即判不通过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5576" y="1664208"/>
            <a:ext cx="25998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5576" y="1773936"/>
            <a:ext cx="259986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10-40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05576" y="2414016"/>
            <a:ext cx="25998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单次生成用例数量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5576" y="2688336"/>
            <a:ext cx="25998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+ 界面操作用例混合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24899" y="1664208"/>
            <a:ext cx="25998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24899" y="1773936"/>
            <a:ext cx="259986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24899" y="2414016"/>
            <a:ext cx="25998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界面操作用例占比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24899" y="2688336"/>
            <a:ext cx="25998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保证交互验证足够充分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255264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255264"/>
            <a:ext cx="64008" cy="137160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26" name="Shape 24"/>
          <p:cNvSpPr/>
          <p:nvPr/>
        </p:nvSpPr>
        <p:spPr>
          <a:xfrm>
            <a:off x="749808" y="3401568"/>
            <a:ext cx="347472" cy="347472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27" name="Text 25"/>
          <p:cNvSpPr/>
          <p:nvPr/>
        </p:nvSpPr>
        <p:spPr>
          <a:xfrm>
            <a:off x="749808" y="3392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07008" y="3401568"/>
            <a:ext cx="44956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控件覆盖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3785616"/>
            <a:ext cx="4495648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下拉 / 搜索 / 按钮 / Tab / 分页 / 排序 / 表格 / 弹窗 / 图表 / 日期 / 开关 / 导航 / 导出 / 刷新——14 类控件逐项检查，每个控件都有对应用例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4720" y="3255264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4720" y="3255264"/>
            <a:ext cx="64008" cy="13716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2" name="Shape 30"/>
          <p:cNvSpPr/>
          <p:nvPr/>
        </p:nvSpPr>
        <p:spPr>
          <a:xfrm>
            <a:off x="6397600" y="3401568"/>
            <a:ext cx="347472" cy="347472"/>
          </a:xfrm>
          <a:prstGeom prst="ellipse">
            <a:avLst/>
          </a:prstGeom>
          <a:solidFill>
            <a:srgbClr val="E0F4FA"/>
          </a:solidFill>
        </p:spPr>
      </p:sp>
      <p:sp>
        <p:nvSpPr>
          <p:cNvPr id="33" name="Text 31"/>
          <p:cNvSpPr/>
          <p:nvPr/>
        </p:nvSpPr>
        <p:spPr>
          <a:xfrm>
            <a:off x="6397600" y="3392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4800" y="3401568"/>
            <a:ext cx="44956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业务场景覆盖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4800" y="3785616"/>
            <a:ext cx="4495648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增删改查后列表是否刷新 ｜ 表单必填与重复提交防护 ｜ 空数据 / 无权限 / 接口异常等边界 ｜ 页面跳转与返回 ｜ 加载中与空状态展示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6928" y="4809744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" y="4809744"/>
            <a:ext cx="64008" cy="1371600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38" name="Shape 36"/>
          <p:cNvSpPr/>
          <p:nvPr/>
        </p:nvSpPr>
        <p:spPr>
          <a:xfrm>
            <a:off x="749808" y="4956048"/>
            <a:ext cx="347472" cy="347472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39" name="Text 37"/>
          <p:cNvSpPr/>
          <p:nvPr/>
        </p:nvSpPr>
        <p:spPr>
          <a:xfrm>
            <a:off x="749808" y="49469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07008" y="4956048"/>
            <a:ext cx="44956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需求逐条覆盖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07008" y="5340096"/>
            <a:ext cx="4495648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每个页面至少 1 条需求核对用例：需求要求的功能缺失即判不通过；需求没提却多做的功能（导出 / 批量 / 打印等）同样标记异常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14720" y="4809744"/>
            <a:ext cx="54100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4720" y="4809744"/>
            <a:ext cx="64008" cy="13716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4" name="Shape 42"/>
          <p:cNvSpPr/>
          <p:nvPr/>
        </p:nvSpPr>
        <p:spPr>
          <a:xfrm>
            <a:off x="6397600" y="4956048"/>
            <a:ext cx="347472" cy="347472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45" name="Text 43"/>
          <p:cNvSpPr/>
          <p:nvPr/>
        </p:nvSpPr>
        <p:spPr>
          <a:xfrm>
            <a:off x="6397600" y="49469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54800" y="4956048"/>
            <a:ext cx="44956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数据一致性覆盖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4800" y="5340096"/>
            <a:ext cx="4495648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接口字段逐个检查非空；页面显示值与接口返回值逐字段比对，不一致或缺字段即判不通过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 · 落地流程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落地流程 ①：用例分组与执行顺序优化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82496"/>
            <a:ext cx="523036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682496"/>
            <a:ext cx="5230368" cy="512064"/>
          </a:xfrm>
          <a:prstGeom prst="rect">
            <a:avLst/>
          </a:prstGeom>
          <a:solidFill>
            <a:srgbClr val="F1EBFE"/>
          </a:solidFill>
        </p:spPr>
      </p:sp>
      <p:sp>
        <p:nvSpPr>
          <p:cNvPr id="10" name="Text 8"/>
          <p:cNvSpPr/>
          <p:nvPr/>
        </p:nvSpPr>
        <p:spPr>
          <a:xfrm>
            <a:off x="786384" y="1682496"/>
            <a:ext cx="47914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规则分组 · 默认可靠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340864"/>
            <a:ext cx="4754880" cy="1572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自动识别哪些用例会修改数据（新增 / 编辑 / 删除 / 保存 / 上传 / 排序…）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只读查看、且在同一页面的用例编为一组：只打开一次页面，连续执行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会改数据的用例自动单独执行，一条一清，互不影响</a:t>
            </a:r>
            <a:endParaRPr lang="en-US" sz="1400" dirty="0">
              <a:solidFill>
                <a:srgbClr val="1E24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91656" y="1682496"/>
            <a:ext cx="523036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91656" y="1682496"/>
            <a:ext cx="5230368" cy="512064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14" name="Text 12"/>
          <p:cNvSpPr/>
          <p:nvPr/>
        </p:nvSpPr>
        <p:spPr>
          <a:xfrm>
            <a:off x="6611112" y="1682496"/>
            <a:ext cx="47914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分组 · 智能优化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340864"/>
            <a:ext cx="4754880" cy="1572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给出分组方案，并说明每条分组的理由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严格校验：每条用例必须且只能出现一次，有遗漏或重复就整体作废</a:t>
            </a:r>
            <a:endParaRPr lang="en-US" sz="1400" dirty="0"/>
          </a:p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分组不合格时自动改用规则分组，保证测试照常进行</a:t>
            </a:r>
            <a:endParaRPr lang="en-US" sz="1400" dirty="0">
              <a:solidFill>
                <a:srgbClr val="1E243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" y="43708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调度示例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736592"/>
            <a:ext cx="2450592" cy="841248"/>
          </a:xfrm>
          <a:prstGeom prst="rect">
            <a:avLst/>
          </a:prstGeom>
          <a:solidFill>
            <a:srgbClr val="E6F7F0"/>
          </a:solidFill>
        </p:spPr>
      </p:sp>
      <p:sp>
        <p:nvSpPr>
          <p:cNvPr id="18" name="Text 16"/>
          <p:cNvSpPr/>
          <p:nvPr/>
        </p:nvSpPr>
        <p:spPr>
          <a:xfrm>
            <a:off x="731520" y="4736592"/>
            <a:ext cx="212140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SC1 · 列表只读检查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条用例共用一次页面打开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54096" y="5157216"/>
            <a:ext cx="34533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36010" y="4736592"/>
            <a:ext cx="2450592" cy="841248"/>
          </a:xfrm>
          <a:prstGeom prst="rect">
            <a:avLst/>
          </a:prstGeom>
          <a:solidFill>
            <a:srgbClr val="FCF3E2"/>
          </a:solidFill>
        </p:spPr>
      </p:sp>
      <p:sp>
        <p:nvSpPr>
          <p:cNvPr id="21" name="Text 19"/>
          <p:cNvSpPr/>
          <p:nvPr/>
        </p:nvSpPr>
        <p:spPr>
          <a:xfrm>
            <a:off x="3600602" y="4736592"/>
            <a:ext cx="212140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SC2 · 新增商品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改数据 · 单独执行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23178" y="5157216"/>
            <a:ext cx="34533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5093" y="4736592"/>
            <a:ext cx="2450592" cy="841248"/>
          </a:xfrm>
          <a:prstGeom prst="rect">
            <a:avLst/>
          </a:prstGeom>
          <a:solidFill>
            <a:srgbClr val="FCF3E2"/>
          </a:solidFill>
        </p:spPr>
      </p:sp>
      <p:sp>
        <p:nvSpPr>
          <p:cNvPr id="24" name="Text 22"/>
          <p:cNvSpPr/>
          <p:nvPr/>
        </p:nvSpPr>
        <p:spPr>
          <a:xfrm>
            <a:off x="6469685" y="4736592"/>
            <a:ext cx="212140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SC3 · 编辑商品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改数据 · 单独执行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92261" y="5157216"/>
            <a:ext cx="34533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74175" y="4736592"/>
            <a:ext cx="2450592" cy="841248"/>
          </a:xfrm>
          <a:prstGeom prst="rect">
            <a:avLst/>
          </a:prstGeom>
          <a:solidFill>
            <a:srgbClr val="FCF3E2"/>
          </a:solidFill>
        </p:spPr>
      </p:sp>
      <p:sp>
        <p:nvSpPr>
          <p:cNvPr id="27" name="Text 25"/>
          <p:cNvSpPr/>
          <p:nvPr/>
        </p:nvSpPr>
        <p:spPr>
          <a:xfrm>
            <a:off x="9338767" y="4736592"/>
            <a:ext cx="212140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SC4 · 删除商品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改数据 · 单独执行</a:t>
            </a:r>
            <a:endParaRPr lang="en-US" sz="12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6928" y="5760720"/>
            <a:ext cx="11057839" cy="40233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29" name="Text 27"/>
          <p:cNvSpPr/>
          <p:nvPr/>
        </p:nvSpPr>
        <p:spPr>
          <a:xfrm>
            <a:off x="786384" y="5760720"/>
            <a:ext cx="10618927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收益：同组用例只打开一次页面，执行更快　｜　组与组之间数据互不影响，结果更准　｜　自动缓存前序结果，节省 AI 调用开销</a:t>
            </a:r>
            <a:endParaRPr lang="en-US" sz="1400" dirty="0">
              <a:solidFill>
                <a:srgbClr val="3730A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 · 落地流程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落地流程 ②：AI 自主执行 —— 30+ 工具，全程可控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353964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664208"/>
            <a:ext cx="64008" cy="1298448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10" name="Text 8"/>
          <p:cNvSpPr/>
          <p:nvPr/>
        </p:nvSpPr>
        <p:spPr>
          <a:xfrm>
            <a:off x="786384" y="1792224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4672" y="2377440"/>
            <a:ext cx="3082442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可用工具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 / 观察 / 模板 / 结果判断全覆盖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64208"/>
            <a:ext cx="353964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6026" y="1664208"/>
            <a:ext cx="64008" cy="1298448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14" name="Text 12"/>
          <p:cNvSpPr/>
          <p:nvPr/>
        </p:nvSpPr>
        <p:spPr>
          <a:xfrm>
            <a:off x="4545482" y="1792224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63770" y="2377440"/>
            <a:ext cx="3082442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</a:t>
            </a:r>
            <a:r>
              <a:rPr lang="zh-CN" alt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几乎</a:t>
            </a:r>
            <a:r>
              <a:rPr 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等同真人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通过浏览器调试通道真实点击输入，不用脚本造假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5125" y="1664208"/>
            <a:ext cx="353964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143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5125" y="1664208"/>
            <a:ext cx="64008" cy="1298448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/>
        </p:nvSpPr>
        <p:spPr>
          <a:xfrm>
            <a:off x="8304581" y="1792224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种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22869" y="2377440"/>
            <a:ext cx="3082442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人工干预方式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 ｜ 继续 ｜ 运行中追加指令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32186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工具箱（按类别）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602736"/>
            <a:ext cx="5410048" cy="566928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02736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基础操作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84248" y="3602736"/>
            <a:ext cx="3809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｜ type ｜ press ｜ scroll ｜ hover</a:t>
            </a:r>
            <a:endParaRPr lang="en-US" sz="1400" dirty="0">
              <a:solidFill>
                <a:srgbClr val="66708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4720" y="3602736"/>
            <a:ext cx="5410048" cy="566928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9312" y="3602736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视觉坐标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2040" y="3602736"/>
            <a:ext cx="3809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 ｜ verify_ui ｜ visual_click ｜ visual_drag</a:t>
            </a:r>
            <a:endParaRPr lang="en-US" sz="1200" dirty="0">
              <a:solidFill>
                <a:srgbClr val="66708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66928" y="4315968"/>
            <a:ext cx="5410048" cy="566928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1596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智能定位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84248" y="4315968"/>
            <a:ext cx="3809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find_element ｜ smart_click ｜ smart_type</a:t>
            </a:r>
            <a:endParaRPr lang="en-US" sz="1400" dirty="0">
              <a:solidFill>
                <a:srgbClr val="66708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4720" y="4315968"/>
            <a:ext cx="5410048" cy="566928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9312" y="4315968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预设模板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2040" y="4315968"/>
            <a:ext cx="3809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select_option ｜ fill_form ｜ click_button ｜ close_dialog ｜ toggle_switch 等 10 类</a:t>
            </a:r>
            <a:endParaRPr lang="en-US" sz="1200" dirty="0">
              <a:solidFill>
                <a:srgbClr val="66708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" y="5029200"/>
            <a:ext cx="5410048" cy="566928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920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状态读取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84248" y="5029200"/>
            <a:ext cx="3809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eval_in_page（只读）｜ read_source ｜ get_network_responses</a:t>
            </a:r>
            <a:endParaRPr lang="en-US" sz="1200" dirty="0">
              <a:solidFill>
                <a:srgbClr val="66708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4720" y="5029200"/>
            <a:ext cx="5410048" cy="566928"/>
          </a:xfrm>
          <a:prstGeom prst="rect">
            <a:avLst/>
          </a:prstGeom>
          <a:solidFill>
            <a:srgbClr val="FBFBFE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9312" y="502920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结果控制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2040" y="5029200"/>
            <a:ext cx="3809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｜ finish ｜ wait ｜ upload_file ｜ surface_interact</a:t>
            </a:r>
            <a:endParaRPr lang="en-US" sz="1200" dirty="0">
              <a:solidFill>
                <a:srgbClr val="66708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402336"/>
          </a:xfrm>
          <a:prstGeom prst="rect">
            <a:avLst/>
          </a:prstGeom>
          <a:solidFill>
            <a:srgbClr val="E6F7F0"/>
          </a:solidFill>
        </p:spPr>
      </p:sp>
      <p:sp>
        <p:nvSpPr>
          <p:cNvPr id="40" name="Text 38"/>
          <p:cNvSpPr/>
          <p:nvPr/>
        </p:nvSpPr>
        <p:spPr>
          <a:xfrm>
            <a:off x="786384" y="5760720"/>
            <a:ext cx="10618927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B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执行自愈：等页面真正加载完再操作，而非死等固定时间　｜　反复失败自动停止重试并更换方法　｜　每次失败附带现场信息，帮助 AI 调整</a:t>
            </a:r>
            <a:endParaRPr lang="en-US" sz="1200" dirty="0">
              <a:solidFill>
                <a:srgbClr val="2F5B4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 · 落地流程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落地实</a:t>
            </a:r>
            <a:r>
              <a:rPr lang="zh-CN" alt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</a:t>
            </a: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①：配置与测试编排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591056"/>
            <a:ext cx="1481328" cy="365760"/>
          </a:xfrm>
          <a:prstGeom prst="rect">
            <a:avLst/>
          </a:prstGeom>
          <a:solidFill>
            <a:srgbClr val="4F46E5"/>
          </a:solidFill>
        </p:spPr>
      </p:sp>
      <p:sp>
        <p:nvSpPr>
          <p:cNvPr id="9" name="Text 7"/>
          <p:cNvSpPr/>
          <p:nvPr/>
        </p:nvSpPr>
        <p:spPr>
          <a:xfrm>
            <a:off x="566928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配置与编排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76272" y="1591056"/>
            <a:ext cx="1481328" cy="365760"/>
          </a:xfrm>
          <a:prstGeom prst="rect">
            <a:avLst/>
          </a:prstGeom>
          <a:solidFill>
            <a:srgbClr val="EDF0F7"/>
          </a:solidFill>
        </p:spPr>
      </p:sp>
      <p:sp>
        <p:nvSpPr>
          <p:cNvPr id="11" name="Text 9"/>
          <p:cNvSpPr/>
          <p:nvPr/>
        </p:nvSpPr>
        <p:spPr>
          <a:xfrm>
            <a:off x="2176272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AI 自主执行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85616" y="1591056"/>
            <a:ext cx="1481328" cy="365760"/>
          </a:xfrm>
          <a:prstGeom prst="rect">
            <a:avLst/>
          </a:prstGeom>
          <a:solidFill>
            <a:srgbClr val="EDF0F7"/>
          </a:solidFill>
        </p:spPr>
      </p:sp>
      <p:sp>
        <p:nvSpPr>
          <p:cNvPr id="13" name="Text 11"/>
          <p:cNvSpPr/>
          <p:nvPr/>
        </p:nvSpPr>
        <p:spPr>
          <a:xfrm>
            <a:off x="3785616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报告与诊断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231136"/>
            <a:ext cx="274320" cy="274320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15" name="Text 13"/>
          <p:cNvSpPr/>
          <p:nvPr/>
        </p:nvSpPr>
        <p:spPr>
          <a:xfrm>
            <a:off x="566928" y="2221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" y="2176272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连接目标标签页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选择要测试的页面标签，一键连接；执行前自动检查该页面能否测试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" y="3172968"/>
            <a:ext cx="274320" cy="274320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18" name="Text 16"/>
          <p:cNvSpPr/>
          <p:nvPr/>
        </p:nvSpPr>
        <p:spPr>
          <a:xfrm>
            <a:off x="566928" y="31638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3118104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配置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填入模型接口地址、密钥、模型名与上下文长度，可按需开启视觉能力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274320" cy="274320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21" name="Text 19"/>
          <p:cNvSpPr/>
          <p:nvPr/>
        </p:nvSpPr>
        <p:spPr>
          <a:xfrm>
            <a:off x="566928" y="4105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" y="4059936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原始需求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用自然语言描述要测什么（图示：商品管理增删改查）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" y="5056632"/>
            <a:ext cx="274320" cy="274320"/>
          </a:xfrm>
          <a:prstGeom prst="ellipse">
            <a:avLst/>
          </a:prstGeom>
          <a:solidFill>
            <a:srgbClr val="EEF0FE"/>
          </a:solidFill>
        </p:spPr>
      </p:sp>
      <p:sp>
        <p:nvSpPr>
          <p:cNvPr id="24" name="Text 22"/>
          <p:cNvSpPr/>
          <p:nvPr/>
        </p:nvSpPr>
        <p:spPr>
          <a:xfrm>
            <a:off x="566928" y="50474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" y="5001768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源码上传 + 架构分析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 src 目录，AI 自动分析路由、菜单、接口与组件结构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5961888"/>
            <a:ext cx="2286000" cy="347472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27" name="Text 25"/>
          <p:cNvSpPr/>
          <p:nvPr/>
        </p:nvSpPr>
        <p:spPr>
          <a:xfrm>
            <a:off x="713232" y="5961888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软件真实运行截图</a:t>
            </a:r>
            <a:endParaRPr lang="en-US" sz="105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0" y="127635"/>
            <a:ext cx="3958590" cy="6218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56692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模块二 · 落地流程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落地实拍 ②：AI 自主执行测试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591056"/>
            <a:ext cx="1481328" cy="365760"/>
          </a:xfrm>
          <a:prstGeom prst="rect">
            <a:avLst/>
          </a:prstGeom>
          <a:solidFill>
            <a:srgbClr val="EDF0F7"/>
          </a:solidFill>
        </p:spPr>
      </p:sp>
      <p:sp>
        <p:nvSpPr>
          <p:cNvPr id="9" name="Text 7"/>
          <p:cNvSpPr/>
          <p:nvPr/>
        </p:nvSpPr>
        <p:spPr>
          <a:xfrm>
            <a:off x="566928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配置与编排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76272" y="1591056"/>
            <a:ext cx="1481328" cy="365760"/>
          </a:xfrm>
          <a:prstGeom prst="rect">
            <a:avLst/>
          </a:prstGeom>
          <a:solidFill>
            <a:srgbClr val="0E9F6E"/>
          </a:solidFill>
        </p:spPr>
      </p:sp>
      <p:sp>
        <p:nvSpPr>
          <p:cNvPr id="11" name="Text 9"/>
          <p:cNvSpPr/>
          <p:nvPr/>
        </p:nvSpPr>
        <p:spPr>
          <a:xfrm>
            <a:off x="2176272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AI 自主执行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85616" y="1591056"/>
            <a:ext cx="1481328" cy="365760"/>
          </a:xfrm>
          <a:prstGeom prst="rect">
            <a:avLst/>
          </a:prstGeom>
          <a:solidFill>
            <a:srgbClr val="EDF0F7"/>
          </a:solidFill>
        </p:spPr>
      </p:sp>
      <p:sp>
        <p:nvSpPr>
          <p:cNvPr id="13" name="Text 11"/>
          <p:cNvSpPr/>
          <p:nvPr/>
        </p:nvSpPr>
        <p:spPr>
          <a:xfrm>
            <a:off x="3785616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报告与诊断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231136"/>
            <a:ext cx="274320" cy="274320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15" name="Text 13"/>
          <p:cNvSpPr/>
          <p:nvPr/>
        </p:nvSpPr>
        <p:spPr>
          <a:xfrm>
            <a:off x="566928" y="2221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" y="2176272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思考过程实时可见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每一轮「看到什么 → 决定做什么 → 执行什么」全程透明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" y="3172968"/>
            <a:ext cx="274320" cy="274320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18" name="Text 16"/>
          <p:cNvSpPr/>
          <p:nvPr/>
        </p:nvSpPr>
        <p:spPr>
          <a:xfrm>
            <a:off x="566928" y="31638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3118104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操作等同真人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每次点击都通过浏览器调试通道真实发出，与手工操作一致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274320" cy="274320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21" name="Text 19"/>
          <p:cNvSpPr/>
          <p:nvPr/>
        </p:nvSpPr>
        <p:spPr>
          <a:xfrm>
            <a:off x="566928" y="4105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" y="4059936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用量与进度可视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上下文用量进度条实时显示，可随时中止、继续或插话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" y="5056632"/>
            <a:ext cx="274320" cy="274320"/>
          </a:xfrm>
          <a:prstGeom prst="ellipse">
            <a:avLst/>
          </a:prstGeom>
          <a:solidFill>
            <a:srgbClr val="E6F7F0"/>
          </a:solidFill>
        </p:spPr>
      </p:sp>
      <p:sp>
        <p:nvSpPr>
          <p:cNvPr id="24" name="Text 22"/>
          <p:cNvSpPr/>
          <p:nvPr/>
        </p:nvSpPr>
        <p:spPr>
          <a:xfrm>
            <a:off x="566928" y="50474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9264" y="5001768"/>
            <a:ext cx="645566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卡住自动处理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同一操作反复失败且页面没变化时，自动停止重试并换方法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" y="5961888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F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软件真实运行截图</a:t>
            </a:r>
            <a:endParaRPr lang="en-US" sz="105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5270" y="68580"/>
            <a:ext cx="4117340" cy="64839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" y="457200"/>
            <a:ext cx="1673352" cy="310896"/>
          </a:xfrm>
          <a:prstGeom prst="rect">
            <a:avLst/>
          </a:prstGeom>
          <a:solidFill>
            <a:srgbClr val="EEF0FE"/>
          </a:solidFill>
        </p:spPr>
      </p:sp>
      <p:sp>
        <p:nvSpPr>
          <p:cNvPr id="3" name="Text 1"/>
          <p:cNvSpPr/>
          <p:nvPr/>
        </p:nvSpPr>
        <p:spPr>
          <a:xfrm>
            <a:off x="635508" y="457200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模块三 · 成果数据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5635" y="859790"/>
            <a:ext cx="488378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成果实拍 ③：测试报告与诊断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前端自动化测试浏览器扩展 · AI 智能创作竞赛汇报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27487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5508" y="1591056"/>
            <a:ext cx="1481328" cy="365760"/>
          </a:xfrm>
          <a:prstGeom prst="rect">
            <a:avLst/>
          </a:prstGeom>
          <a:solidFill>
            <a:srgbClr val="EDF0F7"/>
          </a:solidFill>
        </p:spPr>
      </p:sp>
      <p:sp>
        <p:nvSpPr>
          <p:cNvPr id="9" name="Text 7"/>
          <p:cNvSpPr/>
          <p:nvPr/>
        </p:nvSpPr>
        <p:spPr>
          <a:xfrm>
            <a:off x="635508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配置与编排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4852" y="1591056"/>
            <a:ext cx="1481328" cy="365760"/>
          </a:xfrm>
          <a:prstGeom prst="rect">
            <a:avLst/>
          </a:prstGeom>
          <a:solidFill>
            <a:srgbClr val="EDF0F7"/>
          </a:solidFill>
        </p:spPr>
      </p:sp>
      <p:sp>
        <p:nvSpPr>
          <p:cNvPr id="11" name="Text 9"/>
          <p:cNvSpPr/>
          <p:nvPr/>
        </p:nvSpPr>
        <p:spPr>
          <a:xfrm>
            <a:off x="2244852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AI 自主执行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54196" y="1591056"/>
            <a:ext cx="1481328" cy="36576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Text 11"/>
          <p:cNvSpPr/>
          <p:nvPr/>
        </p:nvSpPr>
        <p:spPr>
          <a:xfrm>
            <a:off x="3854196" y="159105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报告与诊断</a:t>
            </a:r>
            <a:endParaRPr lang="en-US" sz="1050" dirty="0"/>
          </a:p>
        </p:txBody>
      </p:sp>
      <p:sp>
        <p:nvSpPr>
          <p:cNvPr id="14" name="Shape 12"/>
          <p:cNvSpPr/>
          <p:nvPr>
            <p:custDataLst>
              <p:tags r:id="rId1"/>
            </p:custDataLst>
          </p:nvPr>
        </p:nvSpPr>
        <p:spPr>
          <a:xfrm>
            <a:off x="635508" y="2231136"/>
            <a:ext cx="274320" cy="274320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15" name="Text 13"/>
          <p:cNvSpPr/>
          <p:nvPr>
            <p:custDataLst>
              <p:tags r:id="rId2"/>
            </p:custDataLst>
          </p:nvPr>
        </p:nvSpPr>
        <p:spPr>
          <a:xfrm>
            <a:off x="635508" y="2221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3"/>
            </p:custDataLst>
          </p:nvPr>
        </p:nvSpPr>
        <p:spPr>
          <a:xfrm>
            <a:off x="1037590" y="2176145"/>
            <a:ext cx="44831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结构化结果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</a:t>
            </a:r>
            <a:r>
              <a:rPr lang="zh-CN" alt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有详细的测试断言，测试的所有内容标记出通过与失败，方便</a:t>
            </a:r>
            <a:r>
              <a:rPr lang="zh-CN" alt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</a:t>
            </a:r>
            <a:endParaRPr lang="zh-CN" alt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4"/>
            </p:custDataLst>
          </p:nvPr>
        </p:nvSpPr>
        <p:spPr>
          <a:xfrm>
            <a:off x="635508" y="3172968"/>
            <a:ext cx="274320" cy="274320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18" name="Text 16"/>
          <p:cNvSpPr/>
          <p:nvPr>
            <p:custDataLst>
              <p:tags r:id="rId5"/>
            </p:custDataLst>
          </p:nvPr>
        </p:nvSpPr>
        <p:spPr>
          <a:xfrm>
            <a:off x="635508" y="31638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1037590" y="3117850"/>
            <a:ext cx="455104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自动总结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归纳本次覆盖范围、失败原因与复测建议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7"/>
            </p:custDataLst>
          </p:nvPr>
        </p:nvSpPr>
        <p:spPr>
          <a:xfrm>
            <a:off x="635508" y="4114800"/>
            <a:ext cx="274320" cy="274320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21" name="Text 19"/>
          <p:cNvSpPr/>
          <p:nvPr>
            <p:custDataLst>
              <p:tags r:id="rId8"/>
            </p:custDataLst>
          </p:nvPr>
        </p:nvSpPr>
        <p:spPr>
          <a:xfrm>
            <a:off x="635508" y="4105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1037590" y="4060190"/>
            <a:ext cx="448246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失败可诊断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 AI 决策记录与操作前后页面对照，敏感信息已隐藏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Shape 21"/>
          <p:cNvSpPr/>
          <p:nvPr>
            <p:custDataLst>
              <p:tags r:id="rId10"/>
            </p:custDataLst>
          </p:nvPr>
        </p:nvSpPr>
        <p:spPr>
          <a:xfrm>
            <a:off x="635508" y="5056632"/>
            <a:ext cx="274320" cy="274320"/>
          </a:xfrm>
          <a:prstGeom prst="ellipse">
            <a:avLst/>
          </a:prstGeom>
          <a:solidFill>
            <a:srgbClr val="FCF3E2"/>
          </a:solidFill>
        </p:spPr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635508" y="50474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>
            <p:custDataLst>
              <p:tags r:id="rId12"/>
            </p:custDataLst>
          </p:nvPr>
        </p:nvSpPr>
        <p:spPr>
          <a:xfrm>
            <a:off x="1037590" y="5001895"/>
            <a:ext cx="4482465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4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报告可沉淀　</a:t>
            </a:r>
            <a:r>
              <a:rPr lang="en-US" sz="16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/ Markdown 导出，历史报告本地留存可复看</a:t>
            </a:r>
            <a:endParaRPr lang="en-US" sz="1600" dirty="0">
              <a:solidFill>
                <a:srgbClr val="66708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" y="5961888"/>
            <a:ext cx="2286000" cy="347472"/>
          </a:xfrm>
          <a:prstGeom prst="rect">
            <a:avLst/>
          </a:prstGeom>
          <a:solidFill>
            <a:srgbClr val="FCF3E2"/>
          </a:solidFill>
        </p:spPr>
      </p:sp>
      <p:sp>
        <p:nvSpPr>
          <p:cNvPr id="27" name="Text 25"/>
          <p:cNvSpPr/>
          <p:nvPr/>
        </p:nvSpPr>
        <p:spPr>
          <a:xfrm>
            <a:off x="781812" y="5961888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软件真实运行截图</a:t>
            </a:r>
            <a:endParaRPr lang="en-US" sz="105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0475" y="29845"/>
            <a:ext cx="5284470" cy="6389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0103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030" y="125730"/>
            <a:ext cx="6490335" cy="66065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4F46E5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241280" y="4389120"/>
            <a:ext cx="4937760" cy="4937760"/>
          </a:xfrm>
          <a:prstGeom prst="ellipse">
            <a:avLst/>
          </a:prstGeom>
          <a:solidFill>
            <a:srgbClr val="0E9F6E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66928" y="548640"/>
            <a:ext cx="2194560" cy="365760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48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模块四 · 经验总结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11057839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三条实践经验，与下一步规划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515258" cy="1920240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3113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300319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源码是 AI 的「业务说明书」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236976"/>
            <a:ext cx="300319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读源码后再测试，用例质量与元素定位准确度显著提升，远胜只看页面盲猜</a:t>
            </a:r>
            <a:endParaRPr lang="en-US" sz="1200" dirty="0">
              <a:solidFill>
                <a:srgbClr val="C7D2F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38218" y="2048256"/>
            <a:ext cx="3515258" cy="1920240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4250" y="223113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94250" y="2852928"/>
            <a:ext cx="300319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真实操作才能发现真实问题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94250" y="3214116"/>
            <a:ext cx="300319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焦点、遮挡、禁用态、加载时序等问题，只有真实点击输入才能暴露，脚本模拟测不出来</a:t>
            </a:r>
            <a:endParaRPr lang="en-US" sz="1200" dirty="0">
              <a:solidFill>
                <a:srgbClr val="C7D2F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9509" y="2048256"/>
            <a:ext cx="3515258" cy="1920240"/>
          </a:xfrm>
          <a:prstGeom prst="rect">
            <a:avLst/>
          </a:prstGeom>
          <a:solidFill>
            <a:srgbClr val="1E2745"/>
          </a:solidFill>
          <a:ln w="12700">
            <a:solidFill>
              <a:srgbClr val="35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5541" y="223113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5541" y="2852928"/>
            <a:ext cx="300319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约束让 AI 更可靠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65541" y="3236976"/>
            <a:ext cx="300319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元素绑定、用例归属校验、失败自动停止——多重约束换来每条结论都有据可查</a:t>
            </a:r>
            <a:endParaRPr lang="en-US" sz="1200" dirty="0">
              <a:solidFill>
                <a:srgbClr val="C7D2F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437083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7055" y="4827270"/>
            <a:ext cx="1552575" cy="420370"/>
          </a:xfrm>
          <a:prstGeom prst="rect">
            <a:avLst/>
          </a:prstGeom>
          <a:solidFill>
            <a:srgbClr val="141C33">
              <a:alpha val="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7055" y="4827270"/>
            <a:ext cx="1552575" cy="420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攻克复合测试情景</a:t>
            </a:r>
            <a:endParaRPr lang="zh-CN" altLang="en-US" sz="1200" dirty="0">
              <a:solidFill>
                <a:srgbClr val="C7D2F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418588" y="4827016"/>
            <a:ext cx="2153412" cy="420624"/>
          </a:xfrm>
          <a:prstGeom prst="rect">
            <a:avLst/>
          </a:prstGeom>
          <a:solidFill>
            <a:srgbClr val="141C33">
              <a:alpha val="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18588" y="4827016"/>
            <a:ext cx="21534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研发流程</a:t>
            </a:r>
            <a:r>
              <a:rPr lang="zh-CN" altLang="en-US" sz="1100" dirty="0">
                <a:solidFill>
                  <a:srgbClr val="C7D2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</a:t>
            </a:r>
            <a:endParaRPr lang="zh-CN" altLang="en-US" sz="1100" dirty="0">
              <a:solidFill>
                <a:srgbClr val="C7D2F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6928" y="5870448"/>
            <a:ext cx="11057839" cy="0"/>
          </a:xfrm>
          <a:prstGeom prst="line">
            <a:avLst/>
          </a:prstGeom>
          <a:noFill/>
          <a:ln w="12700">
            <a:solidFill>
              <a:srgbClr val="3540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035040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感谢聆听，恳请各位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给出宝贵意见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2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3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4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5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6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7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8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9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10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11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ags/tag12.xml><?xml version="1.0" encoding="utf-8"?>
<p:tagLst xmlns:p="http://schemas.openxmlformats.org/presentationml/2006/main">
  <p:tag name="KSO_WM_DIAGRAM_VIRTUALLY_FRAME" val="{&quot;height&quot;:287.3,&quot;left&quot;:50.04,&quot;top&quot;:171.35,&quot;width&quot;:390.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4601</Words>
  <Application>WPS 演示</Application>
  <PresentationFormat>On-screen Show (16:9)</PresentationFormat>
  <Paragraphs>570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Consolas</vt:lpstr>
      <vt:lpstr>Consolas</vt:lpstr>
      <vt:lpstr>Consolas</vt:lpstr>
      <vt:lpstr>Calibri</vt:lpstr>
      <vt:lpstr>Helvetica Neue</vt:lpstr>
      <vt:lpstr>苹方-简</vt:lpstr>
      <vt:lpstr>汉仪书宋二KW</vt:lpstr>
      <vt:lpstr>Arial Unicode MS</vt:lpstr>
      <vt:lpstr>宋体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前端自动化测试浏览器扩展 · AI 智能创作竞赛汇报</dc:title>
  <dc:creator>AI 前端自动化测试项目组</dc:creator>
  <dc:subject>PptxGenJS Presentation</dc:subject>
  <cp:lastModifiedBy>十六夜咲夜</cp:lastModifiedBy>
  <cp:revision>43</cp:revision>
  <dcterms:created xsi:type="dcterms:W3CDTF">2026-08-05T01:41:45Z</dcterms:created>
  <dcterms:modified xsi:type="dcterms:W3CDTF">2026-08-05T01:41:45Z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A1B0215EBD1F3F9466466C6A82BC6126_42</vt:lpwstr>
  </property>
  <property fmtid="{D5CDD505-2E9C-101B-9397-08002B2CF9AE}" pid="3" name="KSOProductBuildVer">
    <vt:lpwstr>2052-12.1.26035.26035</vt:lpwstr>
  </property>
</Properties>
</file>